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type="screen16x9" cy="6858000" cx="12192000"/>
  <p:notesSz cx="6858000" cy="12192000"/>
  <p:defaultTextStyle>
    <a:defPPr lvl="0"/>
    <a:lvl1pPr algn="l" defTabSz="914400" eaLnBrk="1" hangingPunct="1" latinLnBrk="0" lvl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lvl="1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lvl="2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lvl="3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lvl="4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lvl="5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lvl="6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lvl="7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lvl="8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rtlCol="0" wrap="square"/>
          <a:lstStyle>
            <a:lvl1pPr algn="ctr" indent="0" marL="0">
              <a:buNone/>
              <a:defRPr b="1" dirty="0" sz="4000" lang="en-US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dirty="0" sz="4000" lang="en-US"/>
          </a:p>
        </p:txBody>
      </p:sp>
      <p:sp>
        <p:nvSpPr>
          <p:cNvPr id="10485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hyperlink" Target="https://docs.google.com/spreadsheets/d/10l9hOK2tJ8ZXeajlHo5zw-o1dorqD3jrxaLlAH9aMYo/edit?usp=sharing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K. Ramakrishnan College of Technology logo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47288" y="274320"/>
            <a:ext cx="5303520" cy="1856232"/>
          </a:xfrm>
          <a:prstGeom prst="rect"/>
        </p:spPr>
      </p:pic>
      <p:sp>
        <p:nvSpPr>
          <p:cNvPr id="1048577" name="Text 0"/>
          <p:cNvSpPr txBox="1"/>
          <p:nvPr/>
        </p:nvSpPr>
        <p:spPr>
          <a:xfrm>
            <a:off x="548640" y="2286000"/>
            <a:ext cx="1109167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</a:t>
            </a:r>
            <a:endParaRPr dirty="0" sz="2000" lang="en-US"/>
          </a:p>
        </p:txBody>
      </p:sp>
      <p:sp>
        <p:nvSpPr>
          <p:cNvPr id="1048578" name="Text 1"/>
          <p:cNvSpPr txBox="1"/>
          <p:nvPr/>
        </p:nvSpPr>
        <p:spPr>
          <a:xfrm>
            <a:off x="548640" y="2697480"/>
            <a:ext cx="1109167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2026 – 2027 (Odd Semester)</a:t>
            </a:r>
            <a:endParaRPr dirty="0" sz="1800" lang="en-US"/>
          </a:p>
        </p:txBody>
      </p:sp>
      <p:sp>
        <p:nvSpPr>
          <p:cNvPr id="1048579" name="Text 2"/>
          <p:cNvSpPr txBox="1"/>
          <p:nvPr/>
        </p:nvSpPr>
        <p:spPr>
          <a:xfrm>
            <a:off x="548640" y="3108960"/>
            <a:ext cx="1109167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AGI1242 – MACHINE LEARNING TECHNIQUES</a:t>
            </a:r>
            <a:endParaRPr dirty="0" sz="2000" lang="en-US"/>
          </a:p>
        </p:txBody>
      </p:sp>
      <p:sp>
        <p:nvSpPr>
          <p:cNvPr id="1048580" name="Text 3"/>
          <p:cNvSpPr txBox="1"/>
          <p:nvPr/>
        </p:nvSpPr>
        <p:spPr>
          <a:xfrm>
            <a:off x="548640" y="3566160"/>
            <a:ext cx="1109167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2 REVIEW</a:t>
            </a:r>
            <a:endParaRPr dirty="0" sz="2000" lang="en-US"/>
          </a:p>
        </p:txBody>
      </p:sp>
      <p:sp>
        <p:nvSpPr>
          <p:cNvPr id="1048581" name="Text 4"/>
          <p:cNvSpPr txBox="1"/>
          <p:nvPr/>
        </p:nvSpPr>
        <p:spPr>
          <a:xfrm>
            <a:off x="1097280" y="4206240"/>
            <a:ext cx="5943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:</a:t>
            </a:r>
            <a:endParaRPr dirty="0" sz="2000" lang="en-US"/>
          </a:p>
        </p:txBody>
      </p:sp>
      <p:sp>
        <p:nvSpPr>
          <p:cNvPr id="1048582" name="Text 5"/>
          <p:cNvSpPr txBox="1"/>
          <p:nvPr/>
        </p:nvSpPr>
        <p:spPr>
          <a:xfrm>
            <a:off x="1097280" y="4617720"/>
            <a:ext cx="594360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2503811724322073 – Ponoaviyam A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2503811724321101 – Silwester S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2503811724322102 – Sivadharshini S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2503811724322104 – Sruthi A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2503811724322115 – Vaishanavi S</a:t>
            </a:r>
            <a:endParaRPr dirty="0" sz="1600" lang="en-US"/>
          </a:p>
        </p:txBody>
      </p:sp>
      <p:sp>
        <p:nvSpPr>
          <p:cNvPr id="1048583" name="Text 6"/>
          <p:cNvSpPr txBox="1"/>
          <p:nvPr/>
        </p:nvSpPr>
        <p:spPr>
          <a:xfrm>
            <a:off x="7680960" y="4206240"/>
            <a:ext cx="39319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 :</a:t>
            </a:r>
            <a:endParaRPr dirty="0" sz="2000" lang="en-US"/>
          </a:p>
        </p:txBody>
      </p:sp>
      <p:sp>
        <p:nvSpPr>
          <p:cNvPr id="1048584" name="Text 7"/>
          <p:cNvSpPr txBox="1"/>
          <p:nvPr/>
        </p:nvSpPr>
        <p:spPr>
          <a:xfrm>
            <a:off x="7680960" y="4617720"/>
            <a:ext cx="3931920" cy="10972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P. B. Aravind Prasad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B.E., M.Tech.</a:t>
            </a:r>
            <a:endParaRPr dirty="0" sz="1600" lang="en-US"/>
          </a:p>
          <a:p>
            <a:pPr indent="0" marL="0">
              <a:spcAft>
                <a:spcPts val="300"/>
              </a:spcAft>
              <a:buNone/>
            </a:pPr>
            <a:r>
              <a:rPr b="1" dirty="0" sz="1600" lang="en-US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AI&amp;DS</a:t>
            </a:r>
            <a:endParaRPr dirty="0" sz="16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PROJECT TITLE</a:t>
            </a:r>
            <a:endParaRPr dirty="0" sz="4000" lang="en-US"/>
          </a:p>
        </p:txBody>
      </p:sp>
      <p:sp>
        <p:nvSpPr>
          <p:cNvPr id="1048591" name="Text 1"/>
          <p:cNvSpPr txBox="1"/>
          <p:nvPr/>
        </p:nvSpPr>
        <p:spPr>
          <a:xfrm>
            <a:off x="914400" y="2377440"/>
            <a:ext cx="10360152" cy="20116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3600" lang="en-US">
                <a:solidFill>
                  <a:schemeClr val="tx1"/>
                </a:solidFill>
              </a:rPr>
              <a:t>ML-Based Price Manipulation Pattern Detection Framework</a:t>
            </a:r>
            <a:endParaRPr dirty="0" sz="3600" lang="en-US"/>
          </a:p>
        </p:txBody>
      </p:sp>
      <p:sp>
        <p:nvSpPr>
          <p:cNvPr id="10485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RESEARCH OBJECTIVE</a:t>
            </a:r>
            <a:endParaRPr dirty="0" sz="4000" lang="en-US"/>
          </a:p>
        </p:txBody>
      </p:sp>
      <p:sp>
        <p:nvSpPr>
          <p:cNvPr id="1048597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2200"/>
              </a:spcAft>
              <a:buSzPct val="100000"/>
              <a:buChar char="•"/>
            </a:pPr>
            <a:r>
              <a:rPr dirty="0" sz="3000" lang="en-US">
                <a:solidFill>
                  <a:schemeClr val="tx1"/>
                </a:solidFill>
              </a:rPr>
              <a:t>Develop a machine learning framework to detect artificial price inflation and fake discount patterns in e-commerce.</a:t>
            </a:r>
            <a:endParaRPr dirty="0" sz="3000" lang="en-US"/>
          </a:p>
          <a:p>
            <a:pPr indent="-342900" marL="342900">
              <a:spcAft>
                <a:spcPts val="2200"/>
              </a:spcAft>
              <a:buSzPct val="100000"/>
              <a:buChar char="•"/>
            </a:pPr>
            <a:r>
              <a:rPr dirty="0" sz="3000" lang="en-US">
                <a:solidFill>
                  <a:schemeClr val="tx1"/>
                </a:solidFill>
              </a:rPr>
              <a:t>Analyze historical pricing behavior to identify manipulation patterns before a sale.</a:t>
            </a:r>
            <a:endParaRPr dirty="0" sz="3000" lang="en-US"/>
          </a:p>
          <a:p>
            <a:pPr indent="-342900" marL="342900">
              <a:spcAft>
                <a:spcPts val="2200"/>
              </a:spcAft>
              <a:buSzPct val="100000"/>
              <a:buChar char="•"/>
            </a:pPr>
            <a:r>
              <a:rPr dirty="0" sz="3000" lang="en-US">
                <a:solidFill>
                  <a:schemeClr val="tx1"/>
                </a:solidFill>
              </a:rPr>
              <a:t>Support consumer protection and regulatory compliance with explainable risk scoring.</a:t>
            </a:r>
            <a:endParaRPr dirty="0" sz="3000" lang="en-US"/>
          </a:p>
        </p:txBody>
      </p:sp>
      <p:sp>
        <p:nvSpPr>
          <p:cNvPr id="104859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PICOC FRAMEWORK</a:t>
            </a:r>
            <a:endParaRPr dirty="0" sz="4000" lang="en-US"/>
          </a:p>
        </p:txBody>
      </p:sp>
      <p:sp>
        <p:nvSpPr>
          <p:cNvPr id="1048603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0" marL="0">
              <a:spcAft>
                <a:spcPts val="1200"/>
              </a:spcAft>
              <a:buNone/>
            </a:pPr>
            <a:r>
              <a:rPr b="1" dirty="0" sz="2200" lang="en-US">
                <a:solidFill>
                  <a:schemeClr val="tx1"/>
                </a:solidFill>
              </a:rPr>
              <a:t>P: </a:t>
            </a:r>
            <a:r>
              <a:rPr dirty="0" sz="2200" lang="en-US">
                <a:solidFill>
                  <a:schemeClr val="tx1"/>
                </a:solidFill>
              </a:rPr>
              <a:t>Population: Historical and current e-commerce product price data</a:t>
            </a:r>
            <a:endParaRPr dirty="0" sz="2200" lang="en-US"/>
          </a:p>
          <a:p>
            <a:pPr indent="0" marL="0">
              <a:spcAft>
                <a:spcPts val="1200"/>
              </a:spcAft>
              <a:buNone/>
            </a:pPr>
            <a:r>
              <a:rPr b="1" dirty="0" sz="2200" lang="en-US">
                <a:solidFill>
                  <a:schemeClr val="tx1"/>
                </a:solidFill>
              </a:rPr>
              <a:t>I: </a:t>
            </a:r>
            <a:r>
              <a:rPr dirty="0" sz="2200" lang="en-US">
                <a:solidFill>
                  <a:schemeClr val="tx1"/>
                </a:solidFill>
              </a:rPr>
              <a:t>Intervention: ML models (time-series anomaly detection, Random Forest/XGBoost, LSTM)</a:t>
            </a:r>
            <a:endParaRPr dirty="0" sz="2200" lang="en-US"/>
          </a:p>
          <a:p>
            <a:pPr indent="0" marL="0">
              <a:spcAft>
                <a:spcPts val="1200"/>
              </a:spcAft>
              <a:buNone/>
            </a:pPr>
            <a:r>
              <a:rPr b="1" dirty="0" sz="2200" lang="en-US">
                <a:solidFill>
                  <a:schemeClr val="tx1"/>
                </a:solidFill>
              </a:rPr>
              <a:t>C: </a:t>
            </a:r>
            <a:r>
              <a:rPr dirty="0" sz="2200" lang="en-US">
                <a:solidFill>
                  <a:schemeClr val="tx1"/>
                </a:solidFill>
              </a:rPr>
              <a:t>Comparison: Traditional flat rule-based discount checks (simple average-price comparison)</a:t>
            </a:r>
            <a:endParaRPr dirty="0" sz="2200" lang="en-US"/>
          </a:p>
          <a:p>
            <a:pPr indent="0" marL="0">
              <a:spcAft>
                <a:spcPts val="1200"/>
              </a:spcAft>
              <a:buNone/>
            </a:pPr>
            <a:r>
              <a:rPr b="1" dirty="0" sz="2200" lang="en-US">
                <a:solidFill>
                  <a:schemeClr val="tx1"/>
                </a:solidFill>
              </a:rPr>
              <a:t>O: </a:t>
            </a:r>
            <a:r>
              <a:rPr dirty="0" sz="2200" lang="en-US">
                <a:solidFill>
                  <a:schemeClr val="tx1"/>
                </a:solidFill>
              </a:rPr>
              <a:t>Outcome: Accurate manipulation-pattern detection, risk scoring, and explainable recommendations</a:t>
            </a:r>
            <a:endParaRPr dirty="0" sz="2200" lang="en-US"/>
          </a:p>
          <a:p>
            <a:pPr indent="0" marL="0">
              <a:spcAft>
                <a:spcPts val="1200"/>
              </a:spcAft>
              <a:buNone/>
            </a:pPr>
            <a:r>
              <a:rPr b="1" dirty="0" sz="2200" lang="en-US">
                <a:solidFill>
                  <a:schemeClr val="tx1"/>
                </a:solidFill>
              </a:rPr>
              <a:t>C: </a:t>
            </a:r>
            <a:r>
              <a:rPr dirty="0" sz="2200" lang="en-US">
                <a:solidFill>
                  <a:schemeClr val="tx1"/>
                </a:solidFill>
              </a:rPr>
              <a:t>Context: Online retail/e-commerce marketplaces where dynamic pricing and seasonal sales are common</a:t>
            </a:r>
            <a:endParaRPr dirty="0" sz="2200" lang="en-US"/>
          </a:p>
        </p:txBody>
      </p:sp>
      <p:sp>
        <p:nvSpPr>
          <p:cNvPr id="104860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PROBLEM IDENTIFICATION</a:t>
            </a:r>
            <a:endParaRPr dirty="0" sz="4000" lang="en-US"/>
          </a:p>
        </p:txBody>
      </p:sp>
      <p:sp>
        <p:nvSpPr>
          <p:cNvPr id="1048609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18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Sellers inflate prices just before a sale and then advertise a large “discount”.</a:t>
            </a:r>
            <a:endParaRPr dirty="0" sz="2800" lang="en-US"/>
          </a:p>
          <a:p>
            <a:pPr indent="-342900" marL="342900">
              <a:spcAft>
                <a:spcPts val="18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Fake anchor prices and short-lived or repeated price inflation mislead consumers.</a:t>
            </a:r>
            <a:endParaRPr dirty="0" sz="2800" lang="en-US"/>
          </a:p>
          <a:p>
            <a:pPr indent="-342900" marL="342900">
              <a:spcAft>
                <a:spcPts val="18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Simple average-price comparison cannot capture these varied manipulation patterns.</a:t>
            </a:r>
            <a:endParaRPr dirty="0" sz="2800" lang="en-US"/>
          </a:p>
          <a:p>
            <a:pPr indent="-342900" marL="342900">
              <a:spcAft>
                <a:spcPts val="18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Regulators and consumers get no explainable evidence of manipulation.</a:t>
            </a:r>
            <a:endParaRPr dirty="0" sz="2800" lang="en-US"/>
          </a:p>
        </p:txBody>
      </p:sp>
      <p:sp>
        <p:nvSpPr>
          <p:cNvPr id="10486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FLOW DIAGRAM</a:t>
            </a:r>
            <a:endParaRPr dirty="0" sz="4000" lang="en-US"/>
          </a:p>
        </p:txBody>
      </p:sp>
      <p:sp>
        <p:nvSpPr>
          <p:cNvPr id="1048615" name="Step 1"/>
          <p:cNvSpPr/>
          <p:nvPr/>
        </p:nvSpPr>
        <p:spPr>
          <a:xfrm>
            <a:off x="548640" y="173736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16" name="Text 2"/>
          <p:cNvSpPr txBox="1"/>
          <p:nvPr/>
        </p:nvSpPr>
        <p:spPr>
          <a:xfrm>
            <a:off x="621792" y="178308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1. Price Data Collection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Historical and current product prices</a:t>
            </a:r>
            <a:endParaRPr dirty="0" sz="1700" lang="en-US"/>
          </a:p>
        </p:txBody>
      </p:sp>
      <p:sp>
        <p:nvSpPr>
          <p:cNvPr id="1048617" name="Step 2"/>
          <p:cNvSpPr/>
          <p:nvPr/>
        </p:nvSpPr>
        <p:spPr>
          <a:xfrm>
            <a:off x="3465576" y="173736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18" name="Text 4"/>
          <p:cNvSpPr txBox="1"/>
          <p:nvPr/>
        </p:nvSpPr>
        <p:spPr>
          <a:xfrm>
            <a:off x="3538728" y="178308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2. Preprocessing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Clean, fill gaps, normalise</a:t>
            </a:r>
            <a:endParaRPr dirty="0" sz="1700" lang="en-US"/>
          </a:p>
        </p:txBody>
      </p:sp>
      <p:sp>
        <p:nvSpPr>
          <p:cNvPr id="1048619" name="Step 3"/>
          <p:cNvSpPr/>
          <p:nvPr/>
        </p:nvSpPr>
        <p:spPr>
          <a:xfrm>
            <a:off x="6382512" y="173736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20" name="Text 6"/>
          <p:cNvSpPr txBox="1"/>
          <p:nvPr/>
        </p:nvSpPr>
        <p:spPr>
          <a:xfrm>
            <a:off x="6455664" y="178308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3. Feature Engineering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Volatility, inflation duration, recurrence</a:t>
            </a:r>
            <a:endParaRPr dirty="0" sz="1700" lang="en-US"/>
          </a:p>
        </p:txBody>
      </p:sp>
      <p:sp>
        <p:nvSpPr>
          <p:cNvPr id="1048621" name="Step 4"/>
          <p:cNvSpPr/>
          <p:nvPr/>
        </p:nvSpPr>
        <p:spPr>
          <a:xfrm>
            <a:off x="9299448" y="173736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22" name="Text 8"/>
          <p:cNvSpPr txBox="1"/>
          <p:nvPr/>
        </p:nvSpPr>
        <p:spPr>
          <a:xfrm>
            <a:off x="9372600" y="178308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4. Anomaly Detection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Flag abnormal price spikes</a:t>
            </a:r>
            <a:endParaRPr dirty="0" sz="1700" lang="en-US"/>
          </a:p>
        </p:txBody>
      </p:sp>
      <p:sp>
        <p:nvSpPr>
          <p:cNvPr id="1048623" name="Step 5"/>
          <p:cNvSpPr/>
          <p:nvPr/>
        </p:nvSpPr>
        <p:spPr>
          <a:xfrm>
            <a:off x="9299448" y="411480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24" name="Text 10"/>
          <p:cNvSpPr txBox="1"/>
          <p:nvPr/>
        </p:nvSpPr>
        <p:spPr>
          <a:xfrm>
            <a:off x="9372600" y="416052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5. Pattern Classification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RF / XGBoost + LSTM</a:t>
            </a:r>
            <a:endParaRPr dirty="0" sz="1700" lang="en-US"/>
          </a:p>
        </p:txBody>
      </p:sp>
      <p:sp>
        <p:nvSpPr>
          <p:cNvPr id="1048625" name="Step 6"/>
          <p:cNvSpPr/>
          <p:nvPr/>
        </p:nvSpPr>
        <p:spPr>
          <a:xfrm>
            <a:off x="6382512" y="411480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26" name="Text 12"/>
          <p:cNvSpPr txBox="1"/>
          <p:nvPr/>
        </p:nvSpPr>
        <p:spPr>
          <a:xfrm>
            <a:off x="6455664" y="416052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6. Risk Scoring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Confidence score per pattern</a:t>
            </a:r>
            <a:endParaRPr dirty="0" sz="1700" lang="en-US"/>
          </a:p>
        </p:txBody>
      </p:sp>
      <p:sp>
        <p:nvSpPr>
          <p:cNvPr id="1048627" name="Step 7"/>
          <p:cNvSpPr/>
          <p:nvPr/>
        </p:nvSpPr>
        <p:spPr>
          <a:xfrm>
            <a:off x="3465576" y="4114800"/>
            <a:ext cx="2331720" cy="137160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28" name="Text 14"/>
          <p:cNvSpPr txBox="1"/>
          <p:nvPr/>
        </p:nvSpPr>
        <p:spPr>
          <a:xfrm>
            <a:off x="3538728" y="4160520"/>
            <a:ext cx="2185416" cy="1280160"/>
          </a:xfrm>
          <a:prstGeom prst="rect"/>
          <a:noFill/>
        </p:spPr>
        <p:txBody>
          <a:bodyPr anchor="ctr" bIns="25400" lIns="25400" rIns="25400" rtlCol="0" tIns="25400" wrap="square"/>
          <a:p>
            <a:pPr algn="ctr" indent="0" marL="0">
              <a:buNone/>
            </a:pPr>
            <a:r>
              <a:rPr b="1" dirty="0" sz="1700" lang="en-US">
                <a:solidFill>
                  <a:schemeClr val="tx1"/>
                </a:solidFill>
              </a:rPr>
              <a:t>7. Explainable Output</a:t>
            </a:r>
            <a:endParaRPr dirty="0" sz="1700" lang="en-US"/>
          </a:p>
          <a:p>
            <a:pPr algn="ctr" indent="0" marL="0">
              <a:buNone/>
            </a:pPr>
            <a:r>
              <a:rPr dirty="0" sz="1500" lang="en-US">
                <a:solidFill>
                  <a:schemeClr val="tx1"/>
                </a:solidFill>
              </a:rPr>
              <a:t>Pattern, risk score, reasons</a:t>
            </a:r>
            <a:endParaRPr dirty="0" sz="1700" lang="en-US"/>
          </a:p>
        </p:txBody>
      </p:sp>
      <p:sp>
        <p:nvSpPr>
          <p:cNvPr id="1048629" name="Arrow 1"/>
          <p:cNvSpPr/>
          <p:nvPr/>
        </p:nvSpPr>
        <p:spPr>
          <a:xfrm>
            <a:off x="2880360" y="2423160"/>
            <a:ext cx="585216" cy="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0" name="Arrow 2"/>
          <p:cNvSpPr/>
          <p:nvPr/>
        </p:nvSpPr>
        <p:spPr>
          <a:xfrm>
            <a:off x="5797296" y="2423160"/>
            <a:ext cx="585216" cy="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1" name="Arrow 3"/>
          <p:cNvSpPr/>
          <p:nvPr/>
        </p:nvSpPr>
        <p:spPr>
          <a:xfrm>
            <a:off x="8714232" y="2423160"/>
            <a:ext cx="585216" cy="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2" name="Arrow 4"/>
          <p:cNvSpPr/>
          <p:nvPr/>
        </p:nvSpPr>
        <p:spPr>
          <a:xfrm>
            <a:off x="10465308" y="3108960"/>
            <a:ext cx="0" cy="100584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3" name="Arrow 5"/>
          <p:cNvSpPr/>
          <p:nvPr/>
        </p:nvSpPr>
        <p:spPr>
          <a:xfrm flipH="1">
            <a:off x="8714232" y="4800600"/>
            <a:ext cx="585216" cy="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4" name="Arrow 6"/>
          <p:cNvSpPr/>
          <p:nvPr/>
        </p:nvSpPr>
        <p:spPr>
          <a:xfrm flipH="1">
            <a:off x="5797296" y="4800600"/>
            <a:ext cx="585216" cy="0"/>
          </a:xfrm>
          <a:prstGeom prst="line"/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48635" name="Text 21"/>
          <p:cNvSpPr txBox="1"/>
          <p:nvPr/>
        </p:nvSpPr>
        <p:spPr>
          <a:xfrm>
            <a:off x="548640" y="4114800"/>
            <a:ext cx="2825496" cy="1371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INPUT: </a:t>
            </a:r>
            <a:r>
              <a:rPr dirty="0" sz="1600" lang="en-US">
                <a:solidFill>
                  <a:schemeClr val="tx1"/>
                </a:solidFill>
              </a:rPr>
              <a:t>product price history</a:t>
            </a:r>
            <a:endParaRPr dirty="0" sz="1600" lang="en-US"/>
          </a:p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OUTPUT: </a:t>
            </a:r>
            <a:r>
              <a:rPr dirty="0" sz="1600" lang="en-US">
                <a:solidFill>
                  <a:schemeClr val="tx1"/>
                </a:solidFill>
              </a:rPr>
              <a:t>manipulation pattern + risk score + explanation</a:t>
            </a:r>
            <a:endParaRPr dirty="0" sz="1600" lang="en-US"/>
          </a:p>
        </p:txBody>
      </p:sp>
      <p:sp>
        <p:nvSpPr>
          <p:cNvPr id="10486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LITERATURE SURVEY</a:t>
            </a:r>
            <a:endParaRPr dirty="0" sz="4000" lang="en-US"/>
          </a:p>
        </p:txBody>
      </p:sp>
      <p:sp>
        <p:nvSpPr>
          <p:cNvPr id="1048641" name="Text 1"/>
          <p:cNvSpPr txBox="1"/>
          <p:nvPr/>
        </p:nvSpPr>
        <p:spPr>
          <a:xfrm>
            <a:off x="753948" y="2194560"/>
            <a:ext cx="10515600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800" lang="en-US">
                <a:hlinkClick r:id="rId1"/>
              </a:rPr>
              <a:t>Literature Survey GS Link</a:t>
            </a:r>
            <a:endParaRPr dirty="0" sz="2800" lang="en-US"/>
          </a:p>
        </p:txBody>
      </p:sp>
      <p:sp>
        <p:nvSpPr>
          <p:cNvPr id="10486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SYNTHESIS &amp; SUMMARIZE</a:t>
            </a:r>
            <a:endParaRPr dirty="0" sz="4000" lang="en-US"/>
          </a:p>
        </p:txBody>
      </p:sp>
      <p:sp>
        <p:nvSpPr>
          <p:cNvPr id="1048647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Traditional discount validation (simple average-price comparison) has limited pattern coverage.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Machine learning enables detection of multiple manipulation patterns: pre-sale inflation, fake anchors, short-lived inflation, and repeated manipulation.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Explainability remains a challenge but is essential for regulatory and consumer trust.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Gaps exist in real-time detection and cross-platform generalizability</a:t>
            </a:r>
            <a:endParaRPr dirty="0" sz="2600" lang="en-US"/>
          </a:p>
        </p:txBody>
      </p:sp>
      <p:sp>
        <p:nvSpPr>
          <p:cNvPr id="10486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RESEARCH GAP</a:t>
            </a:r>
            <a:endParaRPr dirty="0" sz="4000" lang="en-US"/>
          </a:p>
        </p:txBody>
      </p:sp>
      <p:sp>
        <p:nvSpPr>
          <p:cNvPr id="1048653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Lack of frameworks that detect multiple manipulation patterns simultaneously.</a:t>
            </a:r>
            <a:endParaRPr dirty="0" sz="28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Insufficient handling of long-term price history for pattern recognition.</a:t>
            </a:r>
            <a:endParaRPr dirty="0" sz="28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Limited interpretable risk-scoring models for regulatory use.</a:t>
            </a:r>
            <a:endParaRPr dirty="0" sz="28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800" lang="en-US">
                <a:solidFill>
                  <a:schemeClr val="tx1"/>
                </a:solidFill>
              </a:rPr>
              <a:t>Need for confidence-scored, pattern-specific outputs rather than binary fake/genuine labels</a:t>
            </a:r>
            <a:endParaRPr dirty="0" sz="2800" lang="en-US"/>
          </a:p>
        </p:txBody>
      </p:sp>
      <p:sp>
        <p:nvSpPr>
          <p:cNvPr id="10486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RESEARCH METHODOLOGY</a:t>
            </a:r>
            <a:endParaRPr dirty="0" sz="4000" lang="en-US"/>
          </a:p>
        </p:txBody>
      </p:sp>
      <p:sp>
        <p:nvSpPr>
          <p:cNvPr id="1048659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dirty="0" sz="2800" lang="en-US">
                <a:solidFill>
                  <a:schemeClr val="tx1"/>
                </a:solidFill>
              </a:rPr>
              <a:t>Time-series anomaly detection identifies abnormal price spikes and short-lived inflation.</a:t>
            </a:r>
            <a:endParaRPr dirty="0" sz="2800" lang="en-US"/>
          </a:p>
          <a:p>
            <a:pPr indent="-342900" marL="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dirty="0" sz="2800" lang="en-US">
                <a:solidFill>
                  <a:schemeClr val="tx1"/>
                </a:solidFill>
              </a:rPr>
              <a:t>Random Forest/XGBoost classification detects recurring manipulation patterns and generates risk scores.</a:t>
            </a:r>
            <a:endParaRPr dirty="0" sz="2800" lang="en-US"/>
          </a:p>
          <a:p>
            <a:pPr indent="-342900" marL="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dirty="0" sz="2800" lang="en-US">
                <a:solidFill>
                  <a:schemeClr val="tx1"/>
                </a:solidFill>
              </a:rPr>
              <a:t>LSTM learns temporal dependencies in price history to detect short-lived and recurring inflation.</a:t>
            </a:r>
            <a:endParaRPr dirty="0" sz="2800" lang="en-US"/>
          </a:p>
        </p:txBody>
      </p:sp>
      <p:sp>
        <p:nvSpPr>
          <p:cNvPr id="10486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ext 0"/>
          <p:cNvSpPr txBox="1"/>
          <p:nvPr/>
        </p:nvSpPr>
        <p:spPr>
          <a:xfrm>
            <a:off x="731520" y="640080"/>
            <a:ext cx="10698480" cy="5486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chemeClr val="tx1"/>
                </a:solidFill>
              </a:rPr>
              <a:t>Algorithm 1: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800" lang="en-US">
                <a:solidFill>
                  <a:schemeClr val="tx1"/>
                </a:solidFill>
              </a:rPr>
              <a:t>Random Forest / XGBoost Classifier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Principle: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600" lang="en-US">
                <a:solidFill>
                  <a:schemeClr val="tx1"/>
                </a:solidFill>
              </a:rPr>
              <a:t>Classifies price-change sequences into manipulation patterns using engineered features (volatility, inflation duration, recurrence).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Advantages: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Handles non-linear pricing patterns.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Provides feature importance for explainability.</a:t>
            </a:r>
            <a:endParaRPr dirty="0" sz="3200" lang="en-US"/>
          </a:p>
        </p:txBody>
      </p:sp>
      <p:sp>
        <p:nvSpPr>
          <p:cNvPr id="10486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ext 0"/>
          <p:cNvSpPr txBox="1"/>
          <p:nvPr/>
        </p:nvSpPr>
        <p:spPr>
          <a:xfrm>
            <a:off x="731520" y="640080"/>
            <a:ext cx="10698480" cy="5486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chemeClr val="tx1"/>
                </a:solidFill>
              </a:rPr>
              <a:t>Algorithm 2: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800" lang="en-US">
                <a:solidFill>
                  <a:schemeClr val="tx1"/>
                </a:solidFill>
              </a:rPr>
              <a:t>Long Short-Term Memory (LSTM)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Principle: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600" lang="en-US">
                <a:solidFill>
                  <a:schemeClr val="tx1"/>
                </a:solidFill>
              </a:rPr>
              <a:t>A recurrent neural network that learns temporal pricing patterns and detects anomalies in sequential price data using memory cells and gates.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Advantages: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Captures temporal dependencies in price history.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Detects short-lived and recurring inflation patterns.</a:t>
            </a:r>
            <a:endParaRPr dirty="0" sz="3200" lang="en-US"/>
          </a:p>
        </p:txBody>
      </p:sp>
      <p:sp>
        <p:nvSpPr>
          <p:cNvPr id="10486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ext 0"/>
          <p:cNvSpPr txBox="1"/>
          <p:nvPr/>
        </p:nvSpPr>
        <p:spPr>
          <a:xfrm>
            <a:off x="731520" y="640080"/>
            <a:ext cx="10698480" cy="5486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chemeClr val="tx1"/>
                </a:solidFill>
              </a:rPr>
              <a:t>Algorithm 3: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800" lang="en-US">
                <a:solidFill>
                  <a:schemeClr val="tx1"/>
                </a:solidFill>
              </a:rPr>
              <a:t>Time-Series Anomaly Detection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Principle:</a:t>
            </a:r>
            <a:endParaRPr dirty="0" sz="3200" lang="en-US"/>
          </a:p>
          <a:p>
            <a:pPr indent="0" marL="0">
              <a:spcAft>
                <a:spcPts val="1400"/>
              </a:spcAft>
              <a:buNone/>
            </a:pPr>
            <a:r>
              <a:rPr dirty="0" sz="2600" lang="en-US">
                <a:solidFill>
                  <a:schemeClr val="tx1"/>
                </a:solidFill>
              </a:rPr>
              <a:t>Learns what normal price behaviour looks like and flags points that deviate sharply from it (for example, using a rolling z-score or Isolation Forest).</a:t>
            </a:r>
            <a:endParaRPr dirty="0" sz="3200" lang="en-US"/>
          </a:p>
          <a:p>
            <a:pPr indent="0" marL="0">
              <a:buNone/>
            </a:pPr>
            <a:r>
              <a:rPr b="1" dirty="0" sz="2800" lang="en-US">
                <a:solidFill>
                  <a:schemeClr val="tx1"/>
                </a:solidFill>
              </a:rPr>
              <a:t>Advantages: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Works without labelled data.</a:t>
            </a:r>
            <a:endParaRPr dirty="0" sz="3200" lang="en-US"/>
          </a:p>
          <a:p>
            <a:pPr indent="-342900" marL="342900"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Quickly finds abnormal spikes and short-lived inflation.</a:t>
            </a:r>
            <a:endParaRPr dirty="0" sz="3200" lang="en-US"/>
          </a:p>
        </p:txBody>
      </p:sp>
      <p:sp>
        <p:nvSpPr>
          <p:cNvPr id="10486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ALGORITHM COMPARISON</a:t>
            </a:r>
            <a:endParaRPr dirty="0" sz="40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548640" y="1554480"/>
          <a:ext cx="11091672" cy="432816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468880"/>
                <a:gridCol w="2560320"/>
                <a:gridCol w="2313432"/>
              </a:tblGrid>
              <a:tr h="54864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6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Criteria</a:t>
                      </a:r>
                      <a:endParaRPr dirty="0" sz="16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6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Rule-based check</a:t>
                      </a:r>
                      <a:endParaRPr dirty="0" sz="16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6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Time-series anomaly detection</a:t>
                      </a:r>
                      <a:endParaRPr dirty="0" sz="16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6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/ XGBoost</a:t>
                      </a:r>
                      <a:endParaRPr dirty="0" sz="16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6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</a:t>
                      </a:r>
                      <a:endParaRPr dirty="0" sz="16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Learning type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 (fixed rule)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Unsupervised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Supervised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Supervised (deep learning)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price vs average price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Price time series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features (volatility, duration, recurrence)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price sequences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 and fast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Finds spikes without labels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Handles non-linear patterns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Learns temporal dependencies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Misses short-lived and repeated patterns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 flag genuine sale spikes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labels and feature engineering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more data; harder to explain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Explainability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(feature importance)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5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 here</a:t>
                      </a:r>
                      <a:endParaRPr dirty="0" sz="15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for comparison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Flags abnormal spikes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Classifies pattern, gives risk score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Detects sequential patterns</a:t>
                      </a:r>
                      <a:endParaRPr dirty="0" sz="1400" lang="en-US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8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IMPLEMENTATION IDEA</a:t>
            </a:r>
            <a:endParaRPr dirty="0" sz="4000" lang="en-US"/>
          </a:p>
        </p:txBody>
      </p:sp>
      <p:sp>
        <p:nvSpPr>
          <p:cNvPr id="1048686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Dataset: </a:t>
            </a:r>
            <a:r>
              <a:rPr dirty="0" sz="2100" lang="en-US">
                <a:solidFill>
                  <a:schemeClr val="tx1"/>
                </a:solidFill>
              </a:rPr>
              <a:t>Real e-commerce price histories (scraped, or from a price-history API such as Keepa).</a:t>
            </a:r>
            <a:endParaRPr dirty="0" sz="21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Labelling: </a:t>
            </a:r>
            <a:r>
              <a:rPr dirty="0" sz="2100" lang="en-US">
                <a:solidFill>
                  <a:schemeClr val="tx1"/>
                </a:solidFill>
              </a:rPr>
              <a:t>No labelled public data exists, so manipulation patterns (pre-sale inflation, fake anchors, short-lived and repeated inflation) are injected synthetically to create ground truth.</a:t>
            </a:r>
            <a:endParaRPr dirty="0" sz="21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Tools: </a:t>
            </a:r>
            <a:r>
              <a:rPr dirty="0" sz="2100" lang="en-US">
                <a:solidFill>
                  <a:schemeClr val="tx1"/>
                </a:solidFill>
              </a:rPr>
              <a:t>Python, pandas, scikit-learn, XGBoost, TensorFlow/Keras, SHAP.</a:t>
            </a:r>
            <a:endParaRPr dirty="0" sz="21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Training setup: </a:t>
            </a:r>
            <a:r>
              <a:rPr dirty="0" sz="2100" lang="en-US">
                <a:solidFill>
                  <a:schemeClr val="tx1"/>
                </a:solidFill>
              </a:rPr>
              <a:t>Time-based train/test split so the model never sees future prices; hyperparameter tuning on a validation set.</a:t>
            </a:r>
            <a:endParaRPr dirty="0" sz="21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Baseline: </a:t>
            </a:r>
            <a:r>
              <a:rPr dirty="0" sz="2100" lang="en-US">
                <a:solidFill>
                  <a:schemeClr val="tx1"/>
                </a:solidFill>
              </a:rPr>
              <a:t>Compare all models against the simple average-price discount check.</a:t>
            </a:r>
            <a:endParaRPr dirty="0" sz="21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2100" lang="en-US">
                <a:solidFill>
                  <a:schemeClr val="tx1"/>
                </a:solidFill>
              </a:rPr>
              <a:t>Evaluation: </a:t>
            </a:r>
            <a:r>
              <a:rPr dirty="0" sz="2100" lang="en-US">
                <a:solidFill>
                  <a:schemeClr val="tx1"/>
                </a:solidFill>
              </a:rPr>
              <a:t>Precision, recall, F1-score and ROC-AUC on detection of each manipulation pattern.</a:t>
            </a:r>
            <a:endParaRPr dirty="0" sz="2100" lang="en-US"/>
          </a:p>
        </p:txBody>
      </p:sp>
      <p:sp>
        <p:nvSpPr>
          <p:cNvPr id="10486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MODULES</a:t>
            </a:r>
            <a:endParaRPr dirty="0" sz="4000" lang="en-US"/>
          </a:p>
        </p:txBody>
      </p:sp>
      <p:sp>
        <p:nvSpPr>
          <p:cNvPr id="1048692" name="Module 1"/>
          <p:cNvSpPr/>
          <p:nvPr/>
        </p:nvSpPr>
        <p:spPr>
          <a:xfrm>
            <a:off x="548640" y="1645920"/>
            <a:ext cx="2103120" cy="356616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93" name="Text 2"/>
          <p:cNvSpPr txBox="1"/>
          <p:nvPr/>
        </p:nvSpPr>
        <p:spPr>
          <a:xfrm>
            <a:off x="658368" y="1783080"/>
            <a:ext cx="1883664" cy="32918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spcAft>
                <a:spcPts val="8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Module 1</a:t>
            </a:r>
            <a:endParaRPr dirty="0" sz="1800" lang="en-US"/>
          </a:p>
          <a:p>
            <a:pPr algn="ctr" indent="0" marL="0">
              <a:spcAft>
                <a:spcPts val="12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Data Collection &amp; Preprocessing</a:t>
            </a:r>
            <a:endParaRPr dirty="0" sz="1800" lang="en-US"/>
          </a:p>
          <a:p>
            <a:pPr algn="ctr" indent="0" marL="0">
              <a:buNone/>
            </a:pPr>
            <a:r>
              <a:rPr dirty="0" sz="1800" lang="en-US">
                <a:solidFill>
                  <a:schemeClr val="tx1"/>
                </a:solidFill>
              </a:rPr>
              <a:t>Collect price history; clean, fill gaps and normalise.</a:t>
            </a:r>
            <a:endParaRPr dirty="0" sz="1800" lang="en-US"/>
          </a:p>
        </p:txBody>
      </p:sp>
      <p:sp>
        <p:nvSpPr>
          <p:cNvPr id="1048694" name="Module 2"/>
          <p:cNvSpPr/>
          <p:nvPr/>
        </p:nvSpPr>
        <p:spPr>
          <a:xfrm>
            <a:off x="2798064" y="1645920"/>
            <a:ext cx="2103120" cy="356616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95" name="Text 4"/>
          <p:cNvSpPr txBox="1"/>
          <p:nvPr/>
        </p:nvSpPr>
        <p:spPr>
          <a:xfrm>
            <a:off x="2907792" y="1783080"/>
            <a:ext cx="1883664" cy="32918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spcAft>
                <a:spcPts val="8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Module 2</a:t>
            </a:r>
            <a:endParaRPr dirty="0" sz="1800" lang="en-US"/>
          </a:p>
          <a:p>
            <a:pPr algn="ctr" indent="0" marL="0">
              <a:spcAft>
                <a:spcPts val="12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Feature Engineering</a:t>
            </a:r>
            <a:endParaRPr dirty="0" sz="1800" lang="en-US"/>
          </a:p>
          <a:p>
            <a:pPr algn="ctr" indent="0" marL="0">
              <a:buNone/>
            </a:pPr>
            <a:r>
              <a:rPr dirty="0" sz="1800" lang="en-US">
                <a:solidFill>
                  <a:schemeClr val="tx1"/>
                </a:solidFill>
              </a:rPr>
              <a:t>Volatility, inflation duration, recurrence and discount %.</a:t>
            </a:r>
            <a:endParaRPr dirty="0" sz="1800" lang="en-US"/>
          </a:p>
        </p:txBody>
      </p:sp>
      <p:sp>
        <p:nvSpPr>
          <p:cNvPr id="1048696" name="Module 3"/>
          <p:cNvSpPr/>
          <p:nvPr/>
        </p:nvSpPr>
        <p:spPr>
          <a:xfrm>
            <a:off x="5047488" y="1645920"/>
            <a:ext cx="2103120" cy="356616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97" name="Text 6"/>
          <p:cNvSpPr txBox="1"/>
          <p:nvPr/>
        </p:nvSpPr>
        <p:spPr>
          <a:xfrm>
            <a:off x="5157216" y="1783080"/>
            <a:ext cx="1883664" cy="32918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spcAft>
                <a:spcPts val="8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Module 3</a:t>
            </a:r>
            <a:endParaRPr dirty="0" sz="1800" lang="en-US"/>
          </a:p>
          <a:p>
            <a:pPr algn="ctr" indent="0" marL="0">
              <a:spcAft>
                <a:spcPts val="12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Anomaly Detection</a:t>
            </a:r>
            <a:endParaRPr dirty="0" sz="1800" lang="en-US"/>
          </a:p>
          <a:p>
            <a:pPr algn="ctr" indent="0" marL="0">
              <a:buNone/>
            </a:pPr>
            <a:r>
              <a:rPr dirty="0" sz="1800" lang="en-US">
                <a:solidFill>
                  <a:schemeClr val="tx1"/>
                </a:solidFill>
              </a:rPr>
              <a:t>Time-series detection of abnormal spikes and short-lived inflation.</a:t>
            </a:r>
            <a:endParaRPr dirty="0" sz="1800" lang="en-US"/>
          </a:p>
        </p:txBody>
      </p:sp>
      <p:sp>
        <p:nvSpPr>
          <p:cNvPr id="1048698" name="Module 4"/>
          <p:cNvSpPr/>
          <p:nvPr/>
        </p:nvSpPr>
        <p:spPr>
          <a:xfrm>
            <a:off x="7296912" y="1645920"/>
            <a:ext cx="2103120" cy="356616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699" name="Text 8"/>
          <p:cNvSpPr txBox="1"/>
          <p:nvPr/>
        </p:nvSpPr>
        <p:spPr>
          <a:xfrm>
            <a:off x="7406640" y="1783080"/>
            <a:ext cx="1883664" cy="32918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spcAft>
                <a:spcPts val="8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Module 4</a:t>
            </a:r>
            <a:endParaRPr dirty="0" sz="1800" lang="en-US"/>
          </a:p>
          <a:p>
            <a:pPr algn="ctr" indent="0" marL="0">
              <a:spcAft>
                <a:spcPts val="12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Pattern Classification</a:t>
            </a:r>
            <a:endParaRPr dirty="0" sz="1800" lang="en-US"/>
          </a:p>
          <a:p>
            <a:pPr algn="ctr" indent="0" marL="0">
              <a:buNone/>
            </a:pPr>
            <a:r>
              <a:rPr dirty="0" sz="1800" lang="en-US">
                <a:solidFill>
                  <a:schemeClr val="tx1"/>
                </a:solidFill>
              </a:rPr>
              <a:t>RF / XGBoost and LSTM classify the manipulation pattern.</a:t>
            </a:r>
            <a:endParaRPr dirty="0" sz="1800" lang="en-US"/>
          </a:p>
        </p:txBody>
      </p:sp>
      <p:sp>
        <p:nvSpPr>
          <p:cNvPr id="1048700" name="Module 5"/>
          <p:cNvSpPr/>
          <p:nvPr/>
        </p:nvSpPr>
        <p:spPr>
          <a:xfrm>
            <a:off x="9546336" y="1645920"/>
            <a:ext cx="2103120" cy="3566160"/>
          </a:xfrm>
          <a:prstGeom prst="rect"/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48701" name="Text 10"/>
          <p:cNvSpPr txBox="1"/>
          <p:nvPr/>
        </p:nvSpPr>
        <p:spPr>
          <a:xfrm>
            <a:off x="9656064" y="1783080"/>
            <a:ext cx="1883664" cy="32918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spcAft>
                <a:spcPts val="8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Module 5</a:t>
            </a:r>
            <a:endParaRPr dirty="0" sz="1800" lang="en-US"/>
          </a:p>
          <a:p>
            <a:pPr algn="ctr" indent="0" marL="0">
              <a:spcAft>
                <a:spcPts val="1200"/>
              </a:spcAft>
              <a:buNone/>
            </a:pPr>
            <a:r>
              <a:rPr b="1" dirty="0" sz="1800" lang="en-US">
                <a:solidFill>
                  <a:schemeClr val="tx1"/>
                </a:solidFill>
              </a:rPr>
              <a:t>Risk Scoring &amp; Explanation</a:t>
            </a:r>
            <a:endParaRPr dirty="0" sz="1800" lang="en-US"/>
          </a:p>
          <a:p>
            <a:pPr algn="ctr" indent="0" marL="0">
              <a:buNone/>
            </a:pPr>
            <a:r>
              <a:rPr dirty="0" sz="1800" lang="en-US">
                <a:solidFill>
                  <a:schemeClr val="tx1"/>
                </a:solidFill>
              </a:rPr>
              <a:t>Confidence-scored risk with feature-importance reasons.</a:t>
            </a:r>
            <a:endParaRPr dirty="0" sz="1800" lang="en-US"/>
          </a:p>
        </p:txBody>
      </p:sp>
      <p:sp>
        <p:nvSpPr>
          <p:cNvPr id="10487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/>
                </a:solidFill>
              </a:rPr>
              <a:t>CONCLUSION</a:t>
            </a:r>
            <a:endParaRPr dirty="0" sz="4000" lang="en-US"/>
          </a:p>
        </p:txBody>
      </p:sp>
      <p:sp>
        <p:nvSpPr>
          <p:cNvPr id="1048707" name="Text 1"/>
          <p:cNvSpPr txBox="1"/>
          <p:nvPr/>
        </p:nvSpPr>
        <p:spPr>
          <a:xfrm>
            <a:off x="822960" y="1645920"/>
            <a:ext cx="10515600" cy="4480560"/>
          </a:xfrm>
          <a:prstGeom prst="rect"/>
          <a:noFill/>
        </p:spPr>
        <p:txBody>
          <a:bodyPr anchor="t" bIns="50800" lIns="50800" rIns="50800" rtlCol="0" tIns="50800" wrap="square"/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The framework detects multiple price-manipulation patterns by combining anomaly detection, Random Forest / XGBoost and LSTM.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It covers patterns that a simple average-price check misses: pre-sale inflation, fake anchors, short-lived and repeated inflation.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Explainable, confidence-scored risk outputs support consumer protection and regulatory compliance.</a:t>
            </a:r>
            <a:endParaRPr dirty="0" sz="2600" lang="en-US"/>
          </a:p>
          <a:p>
            <a:pPr indent="-342900" marL="342900">
              <a:spcAft>
                <a:spcPts val="1600"/>
              </a:spcAft>
              <a:buSzPct val="100000"/>
              <a:buChar char="•"/>
            </a:pPr>
            <a:r>
              <a:rPr dirty="0" sz="2600" lang="en-US">
                <a:solidFill>
                  <a:schemeClr val="tx1"/>
                </a:solidFill>
              </a:rPr>
              <a:t>Future work: real-time detection and generalisation across e-commerce platforms.</a:t>
            </a:r>
            <a:endParaRPr dirty="0" sz="2600" lang="en-US"/>
          </a:p>
        </p:txBody>
      </p:sp>
      <p:sp>
        <p:nvSpPr>
          <p:cNvPr id="104870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/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CT CIA2 Plain">
  <a:themeElements>
    <a:clrScheme name="KRCT CIA2 Plai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404040"/>
      </a:accent2>
      <a:accent3>
        <a:srgbClr val="595959"/>
      </a:accent3>
      <a:accent4>
        <a:srgbClr val="7F7F7F"/>
      </a:accent4>
      <a:accent5>
        <a:srgbClr val="A6A6A6"/>
      </a:accent5>
      <a:accent6>
        <a:srgbClr val="262626"/>
      </a:accent6>
      <a:hlink>
        <a:srgbClr val="0563C1"/>
      </a:hlink>
      <a:folHlink>
        <a:srgbClr val="0563C1"/>
      </a:folHlink>
    </a:clrScheme>
    <a:fontScheme name="KRCT CIA2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CPH2607</dc:creator>
  <dcterms:created xsi:type="dcterms:W3CDTF">2026-10-08T04:28:57Z</dcterms:created>
  <dcterms:modified xsi:type="dcterms:W3CDTF">2026-10-08T04:28:57Z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7a83c9ac396e42c0a40aa001eb02b26e_23</vt:lpwstr>
  </property>
</Properties>
</file>